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42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0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73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2160"/>
            </a:lvl4pPr>
            <a:lvl5pPr marL="2194560" indent="0" algn="ctr">
              <a:buNone/>
              <a:defRPr sz="2160"/>
            </a:lvl5pPr>
            <a:lvl6pPr marL="2743200" indent="0" algn="ctr">
              <a:buNone/>
              <a:defRPr sz="2160"/>
            </a:lvl6pPr>
            <a:lvl7pPr marL="3291840" indent="0" algn="ctr">
              <a:buNone/>
              <a:defRPr sz="2160"/>
            </a:lvl7pPr>
            <a:lvl8pPr marL="3840480" indent="0" algn="ctr">
              <a:buNone/>
              <a:defRPr sz="2160"/>
            </a:lvl8pPr>
            <a:lvl9pPr marL="4389120" indent="0" algn="ctr">
              <a:buNone/>
              <a:defRPr sz="21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0064210" y="6316927"/>
            <a:ext cx="0" cy="10972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4630400" cy="54864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58022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038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b="0" spc="24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10064210" y="6316927"/>
            <a:ext cx="0" cy="10972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4630400" cy="54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735594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8952" y="2743200"/>
            <a:ext cx="5705856" cy="482803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7184" y="2743200"/>
            <a:ext cx="5705856" cy="482803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835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76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8954" y="3561346"/>
            <a:ext cx="5705856" cy="40098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89066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76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marL="0" lvl="0" indent="0" algn="l" defTabSz="1097280" rtl="0" eaLnBrk="1" latinLnBrk="0" hangingPunct="1">
              <a:lnSpc>
                <a:spcPct val="90000"/>
              </a:lnSpc>
              <a:spcBef>
                <a:spcPts val="216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066" y="3561346"/>
            <a:ext cx="5705856" cy="40098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849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6664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905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28954" y="565811"/>
            <a:ext cx="5266944" cy="208483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0" y="987552"/>
            <a:ext cx="6814109" cy="622157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8954" y="2709007"/>
            <a:ext cx="5266944" cy="451475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720"/>
              </a:spcBef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392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6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4626742" cy="54864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32720" y="5952166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5529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8593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914400"/>
            <a:ext cx="3154680" cy="649224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8721" y="914400"/>
            <a:ext cx="9098280" cy="649224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2070080" y="71116"/>
            <a:ext cx="0" cy="10972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9573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10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743200"/>
            <a:ext cx="11664088" cy="48280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8955" y="7764845"/>
            <a:ext cx="2584972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519" y="7764845"/>
            <a:ext cx="7081751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004800" y="7764845"/>
            <a:ext cx="1168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14400" y="991589"/>
            <a:ext cx="0" cy="10972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552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</p:sldLayoutIdLst>
  <p:hf sldNum="0" hdr="0" ftr="0" dt="0"/>
  <p:txStyles>
    <p:titleStyle>
      <a:lvl1pPr algn="l" defTabSz="1097280" rtl="0" eaLnBrk="1" latinLnBrk="0" hangingPunct="1">
        <a:lnSpc>
          <a:spcPct val="80000"/>
        </a:lnSpc>
        <a:spcBef>
          <a:spcPct val="0"/>
        </a:spcBef>
        <a:buNone/>
        <a:defRPr sz="6000" kern="1200" cap="all" spc="12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318211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71323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1272845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145938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163494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1467" y="2050924"/>
            <a:ext cx="12293600" cy="4250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037993" y="3302437"/>
            <a:ext cx="9839206" cy="9582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272D45"/>
                </a:solidFill>
                <a:latin typeface="Arial Rounded MT Bold" panose="020F0704030504030204" pitchFamily="34" charset="0"/>
                <a:ea typeface="Kanit" pitchFamily="34" charset="-122"/>
                <a:cs typeface="Kanit" pitchFamily="34" charset="-120"/>
              </a:rPr>
              <a:t>House Price Prediction Model</a:t>
            </a:r>
            <a:endParaRPr lang="en-US" sz="6036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37993" y="4593908"/>
            <a:ext cx="10554414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858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1237129" y="2099733"/>
            <a:ext cx="7153836" cy="38946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795588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6000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Group </a:t>
            </a:r>
            <a:r>
              <a:rPr lang="en-US" sz="6000" dirty="0">
                <a:solidFill>
                  <a:srgbClr val="272D45"/>
                </a:solidFill>
                <a:latin typeface="Times New Roman" panose="02020603050405020304" pitchFamily="18" charset="0"/>
                <a:ea typeface="Kanit" pitchFamily="34" charset="-122"/>
                <a:cs typeface="Times New Roman" panose="02020603050405020304" pitchFamily="18" charset="0"/>
              </a:rPr>
              <a:t>Members</a:t>
            </a:r>
            <a:r>
              <a:rPr lang="en-US" sz="6000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: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37993" y="3934301"/>
            <a:ext cx="10554414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Muhammad Subhan Khokhar (f2022332081)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2037993" y="4517469"/>
            <a:ext cx="10554414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Areeba Tariq (f2022332037)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2005164" y="4991273"/>
            <a:ext cx="10554414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Farzam Shazad (f2022332043)</a:t>
            </a: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-7620" y="2689412"/>
            <a:ext cx="45719" cy="109369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2934414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Introduction</a:t>
            </a:r>
            <a:endParaRPr lang="en-US" sz="4374" b="1" dirty="0"/>
          </a:p>
        </p:txBody>
      </p:sp>
      <p:sp>
        <p:nvSpPr>
          <p:cNvPr id="6" name="Text 3"/>
          <p:cNvSpPr/>
          <p:nvPr/>
        </p:nvSpPr>
        <p:spPr>
          <a:xfrm>
            <a:off x="6319599" y="3962043"/>
            <a:ext cx="747760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Accurately predicting house prices is crucial for informed decision-making in the real estate market. Our predictive model helps advanced analytics to provide reliable estimates, empowering you to make data-driven investments and strategic planning decisions.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8229599"/>
            <a:ext cx="14630400" cy="45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105501"/>
            <a:ext cx="833032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Collection and Preprocessing</a:t>
            </a:r>
            <a:endParaRPr lang="en-US" sz="4374" b="1" dirty="0"/>
          </a:p>
        </p:txBody>
      </p:sp>
      <p:sp>
        <p:nvSpPr>
          <p:cNvPr id="5" name="Text 3"/>
          <p:cNvSpPr/>
          <p:nvPr/>
        </p:nvSpPr>
        <p:spPr>
          <a:xfrm>
            <a:off x="2037993" y="335530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Sources</a:t>
            </a:r>
            <a:endParaRPr lang="en-US" sz="2800" b="1" dirty="0"/>
          </a:p>
        </p:txBody>
      </p:sp>
      <p:sp>
        <p:nvSpPr>
          <p:cNvPr id="6" name="Text 4"/>
          <p:cNvSpPr/>
          <p:nvPr/>
        </p:nvSpPr>
        <p:spPr>
          <a:xfrm>
            <a:off x="2037993" y="3924657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gather data from multiple reliable sources, including real estate listings, census records, and economic indicators, to ensure a comprehensive dataset.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43932" y="335530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Cleaning</a:t>
            </a:r>
            <a:endParaRPr lang="en-US" sz="2800" b="1" dirty="0"/>
          </a:p>
        </p:txBody>
      </p:sp>
      <p:sp>
        <p:nvSpPr>
          <p:cNvPr id="8" name="Text 6"/>
          <p:cNvSpPr/>
          <p:nvPr/>
        </p:nvSpPr>
        <p:spPr>
          <a:xfrm>
            <a:off x="5743932" y="3924657"/>
            <a:ext cx="3156347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clean and preprocess the data, addressing missing values, to ensure the integrity of our model inputs.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49872" y="335530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Feature Selection</a:t>
            </a:r>
            <a:endParaRPr lang="en-US" sz="2800" b="1" dirty="0"/>
          </a:p>
        </p:txBody>
      </p:sp>
      <p:sp>
        <p:nvSpPr>
          <p:cNvPr id="10" name="Text 8"/>
          <p:cNvSpPr/>
          <p:nvPr/>
        </p:nvSpPr>
        <p:spPr>
          <a:xfrm>
            <a:off x="9449872" y="3924657"/>
            <a:ext cx="3156347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carefully select the most relevant features, such as location, and square footage to optimize the predictive power of our model.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8229599"/>
            <a:ext cx="14630400" cy="6048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825222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8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Feature Engineering</a:t>
            </a:r>
            <a:endParaRPr lang="en-US" sz="4800" b="1" dirty="0"/>
          </a:p>
        </p:txBody>
      </p:sp>
      <p:sp>
        <p:nvSpPr>
          <p:cNvPr id="6" name="Shape 3"/>
          <p:cNvSpPr/>
          <p:nvPr/>
        </p:nvSpPr>
        <p:spPr>
          <a:xfrm>
            <a:off x="1144310" y="1852851"/>
            <a:ext cx="44410" cy="5551408"/>
          </a:xfrm>
          <a:prstGeom prst="roundRect">
            <a:avLst>
              <a:gd name="adj" fmla="val 225151"/>
            </a:avLst>
          </a:prstGeom>
          <a:solidFill>
            <a:srgbClr val="C5D2CF"/>
          </a:solidFill>
          <a:ln/>
        </p:spPr>
      </p:sp>
      <p:sp>
        <p:nvSpPr>
          <p:cNvPr id="7" name="Shape 4"/>
          <p:cNvSpPr/>
          <p:nvPr/>
        </p:nvSpPr>
        <p:spPr>
          <a:xfrm>
            <a:off x="1416427" y="2330470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5D2CF"/>
          </a:solidFill>
          <a:ln/>
        </p:spPr>
      </p:sp>
      <p:sp>
        <p:nvSpPr>
          <p:cNvPr id="8" name="Shape 5"/>
          <p:cNvSpPr/>
          <p:nvPr/>
        </p:nvSpPr>
        <p:spPr>
          <a:xfrm>
            <a:off x="916484" y="210276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794" y="2144435"/>
            <a:ext cx="10132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7"/>
          <p:cNvSpPr/>
          <p:nvPr/>
        </p:nvSpPr>
        <p:spPr>
          <a:xfrm>
            <a:off x="2388513" y="2075021"/>
            <a:ext cx="285428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Feature Transformation</a:t>
            </a:r>
            <a:endParaRPr lang="en-US" sz="2800" b="1" dirty="0"/>
          </a:p>
        </p:txBody>
      </p:sp>
      <p:sp>
        <p:nvSpPr>
          <p:cNvPr id="11" name="Text 8"/>
          <p:cNvSpPr/>
          <p:nvPr/>
        </p:nvSpPr>
        <p:spPr>
          <a:xfrm>
            <a:off x="2388513" y="2555438"/>
            <a:ext cx="7751088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apply advanced techniques, such as handling non-linearity and manages missing values, to enhance the predictive capability of our features.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16427" y="4477167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5D2CF"/>
          </a:solidFill>
          <a:ln/>
        </p:spPr>
      </p:sp>
      <p:sp>
        <p:nvSpPr>
          <p:cNvPr id="13" name="Shape 10"/>
          <p:cNvSpPr/>
          <p:nvPr/>
        </p:nvSpPr>
        <p:spPr>
          <a:xfrm>
            <a:off x="916484" y="424946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2100" y="4291132"/>
            <a:ext cx="168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2388513" y="422171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Feature Interaction</a:t>
            </a:r>
            <a:endParaRPr lang="en-US" sz="2800" b="1" dirty="0"/>
          </a:p>
        </p:txBody>
      </p:sp>
      <p:sp>
        <p:nvSpPr>
          <p:cNvPr id="16" name="Text 13"/>
          <p:cNvSpPr/>
          <p:nvPr/>
        </p:nvSpPr>
        <p:spPr>
          <a:xfrm>
            <a:off x="2388513" y="4702135"/>
            <a:ext cx="7751088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explore the interactions between features, unlocking hidden relationships that can further improve the model's accuracy.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416427" y="6290608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5D2CF"/>
          </a:solidFill>
          <a:ln/>
        </p:spPr>
      </p:sp>
      <p:sp>
        <p:nvSpPr>
          <p:cNvPr id="18" name="Shape 15"/>
          <p:cNvSpPr/>
          <p:nvPr/>
        </p:nvSpPr>
        <p:spPr>
          <a:xfrm>
            <a:off x="916484" y="606290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80790" y="6104573"/>
            <a:ext cx="1713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7"/>
          <p:cNvSpPr/>
          <p:nvPr/>
        </p:nvSpPr>
        <p:spPr>
          <a:xfrm>
            <a:off x="2388513" y="60351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Feature Selection</a:t>
            </a:r>
            <a:endParaRPr lang="en-US" sz="2800" b="1" dirty="0"/>
          </a:p>
        </p:txBody>
      </p:sp>
      <p:sp>
        <p:nvSpPr>
          <p:cNvPr id="21" name="Text 18"/>
          <p:cNvSpPr/>
          <p:nvPr/>
        </p:nvSpPr>
        <p:spPr>
          <a:xfrm>
            <a:off x="2388513" y="6515576"/>
            <a:ext cx="7751088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 employ feature selection algorithms to identify the most influential variables, streamlining the model and improving its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104094"/>
            <a:ext cx="14630400" cy="12550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6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63510" y="3179564"/>
            <a:ext cx="6617494" cy="65151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30"/>
              </a:lnSpc>
              <a:buNone/>
            </a:pPr>
            <a:r>
              <a:rPr lang="en-US" sz="44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Model Selection and Training</a:t>
            </a:r>
            <a:endParaRPr lang="en-US" sz="4400" b="1" dirty="0"/>
          </a:p>
        </p:txBody>
      </p:sp>
      <p:sp>
        <p:nvSpPr>
          <p:cNvPr id="6" name="Shape 3"/>
          <p:cNvSpPr/>
          <p:nvPr/>
        </p:nvSpPr>
        <p:spPr>
          <a:xfrm>
            <a:off x="2363510" y="4378285"/>
            <a:ext cx="469106" cy="469106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50438" y="4417338"/>
            <a:ext cx="95131" cy="390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78"/>
              </a:lnSpc>
              <a:buNone/>
            </a:pPr>
            <a:r>
              <a:rPr lang="en-US" sz="2463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463" dirty="0"/>
          </a:p>
        </p:txBody>
      </p:sp>
      <p:sp>
        <p:nvSpPr>
          <p:cNvPr id="8" name="Text 5"/>
          <p:cNvSpPr/>
          <p:nvPr/>
        </p:nvSpPr>
        <p:spPr>
          <a:xfrm>
            <a:off x="3041094" y="4378285"/>
            <a:ext cx="2484596" cy="651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65"/>
              </a:lnSpc>
              <a:buNone/>
            </a:pPr>
            <a:r>
              <a:rPr lang="en-US" sz="24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Regression Algorithms</a:t>
            </a:r>
            <a:endParaRPr lang="en-US" sz="2400" b="1" dirty="0"/>
          </a:p>
        </p:txBody>
      </p:sp>
      <p:sp>
        <p:nvSpPr>
          <p:cNvPr id="9" name="Text 6"/>
          <p:cNvSpPr/>
          <p:nvPr/>
        </p:nvSpPr>
        <p:spPr>
          <a:xfrm>
            <a:off x="3041094" y="5154811"/>
            <a:ext cx="2484596" cy="2501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3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evaluate a range of regression algorithms, including linear regression, decision trees, and random forests, to determine the optimal model for our use case.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34169" y="4378285"/>
            <a:ext cx="469106" cy="469106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89546" y="4417338"/>
            <a:ext cx="158234" cy="390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78"/>
              </a:lnSpc>
              <a:buNone/>
            </a:pPr>
            <a:r>
              <a:rPr lang="en-US" sz="2463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463" dirty="0"/>
          </a:p>
        </p:txBody>
      </p:sp>
      <p:sp>
        <p:nvSpPr>
          <p:cNvPr id="12" name="Text 9"/>
          <p:cNvSpPr/>
          <p:nvPr/>
        </p:nvSpPr>
        <p:spPr>
          <a:xfrm>
            <a:off x="6411754" y="4378285"/>
            <a:ext cx="2484596" cy="651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65"/>
              </a:lnSpc>
              <a:buNone/>
            </a:pPr>
            <a:r>
              <a:rPr lang="en-US" sz="20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Hyperparameter Tuning</a:t>
            </a:r>
            <a:endParaRPr lang="en-US" sz="2000" b="1" dirty="0"/>
          </a:p>
        </p:txBody>
      </p:sp>
      <p:sp>
        <p:nvSpPr>
          <p:cNvPr id="13" name="Text 10"/>
          <p:cNvSpPr/>
          <p:nvPr/>
        </p:nvSpPr>
        <p:spPr>
          <a:xfrm>
            <a:off x="6411754" y="5154811"/>
            <a:ext cx="2484596" cy="2188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3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carefully tune the hyperparameters of the selected model to ensure it achieves the best possible performance on the training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04828" y="4378285"/>
            <a:ext cx="469106" cy="469106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59014" y="4417338"/>
            <a:ext cx="160734" cy="390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78"/>
              </a:lnSpc>
              <a:buNone/>
            </a:pPr>
            <a:r>
              <a:rPr lang="en-US" sz="2463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463" dirty="0"/>
          </a:p>
        </p:txBody>
      </p:sp>
      <p:sp>
        <p:nvSpPr>
          <p:cNvPr id="16" name="Text 13"/>
          <p:cNvSpPr/>
          <p:nvPr/>
        </p:nvSpPr>
        <p:spPr>
          <a:xfrm>
            <a:off x="9782413" y="4378285"/>
            <a:ext cx="2484596" cy="3257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65"/>
              </a:lnSpc>
              <a:buNone/>
            </a:pPr>
            <a:r>
              <a:rPr lang="en-US" sz="24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Cross-Validation</a:t>
            </a:r>
            <a:endParaRPr lang="en-US" sz="2400" b="1" dirty="0"/>
          </a:p>
        </p:txBody>
      </p:sp>
      <p:sp>
        <p:nvSpPr>
          <p:cNvPr id="17" name="Text 14"/>
          <p:cNvSpPr/>
          <p:nvPr/>
        </p:nvSpPr>
        <p:spPr>
          <a:xfrm>
            <a:off x="9782413" y="4829056"/>
            <a:ext cx="2484596" cy="2188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63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To prevent overfitting, we employ rigorous cross-validation techniques to assess the model's generalization capability on unseen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216819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8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Model Evaluation</a:t>
            </a:r>
            <a:endParaRPr lang="en-US" sz="4800" b="1" dirty="0"/>
          </a:p>
        </p:txBody>
      </p:sp>
      <p:sp>
        <p:nvSpPr>
          <p:cNvPr id="6" name="Shape 3"/>
          <p:cNvSpPr/>
          <p:nvPr/>
        </p:nvSpPr>
        <p:spPr>
          <a:xfrm>
            <a:off x="833199" y="2244447"/>
            <a:ext cx="4542115" cy="2606278"/>
          </a:xfrm>
          <a:prstGeom prst="roundRect">
            <a:avLst>
              <a:gd name="adj" fmla="val 383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2990" y="247423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36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Accuracy Metrics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62990" y="2954655"/>
            <a:ext cx="4082534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measure the model's performance using  mean squared error, to ensure it meets our target standards.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597485" y="2244447"/>
            <a:ext cx="4542115" cy="2606278"/>
          </a:xfrm>
          <a:prstGeom prst="roundRect">
            <a:avLst>
              <a:gd name="adj" fmla="val 383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7276" y="247423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36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Robustness Testing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827275" y="2954655"/>
            <a:ext cx="4534495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put the model through extensive robustness testing, including sensitivity analyses and stress tests, to ensure it can handle a wide range of market conditions.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3199" y="5072896"/>
            <a:ext cx="9306401" cy="1939766"/>
          </a:xfrm>
          <a:prstGeom prst="roundRect">
            <a:avLst>
              <a:gd name="adj" fmla="val 515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2990" y="5302687"/>
            <a:ext cx="2846546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36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Comparative Analysis</a:t>
            </a:r>
            <a:endParaRPr lang="en-US" sz="3600" b="1" dirty="0"/>
          </a:p>
        </p:txBody>
      </p:sp>
      <p:sp>
        <p:nvSpPr>
          <p:cNvPr id="14" name="Text 11"/>
          <p:cNvSpPr/>
          <p:nvPr/>
        </p:nvSpPr>
        <p:spPr>
          <a:xfrm>
            <a:off x="1062990" y="5783104"/>
            <a:ext cx="8846820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benchmark our model's performance against industry standards and other predictive models to validate its competitiveness and identify areas for further improvement.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2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4594" y="3115747"/>
            <a:ext cx="8409146" cy="6381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025"/>
              </a:lnSpc>
              <a:buNone/>
            </a:pPr>
            <a:r>
              <a:rPr lang="en-US" sz="44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Limitations and Future Improvements</a:t>
            </a:r>
            <a:endParaRPr lang="en-US" sz="440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594" y="4060269"/>
            <a:ext cx="3233618" cy="816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68786" y="5183505"/>
            <a:ext cx="2552819" cy="3190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3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Limitations</a:t>
            </a:r>
            <a:endParaRPr lang="en-US" sz="2800" b="1" dirty="0"/>
          </a:p>
        </p:txBody>
      </p:sp>
      <p:sp>
        <p:nvSpPr>
          <p:cNvPr id="8" name="Text 4"/>
          <p:cNvSpPr/>
          <p:nvPr/>
        </p:nvSpPr>
        <p:spPr>
          <a:xfrm>
            <a:off x="2668786" y="5625108"/>
            <a:ext cx="2825234" cy="1837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12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acknowledge the potential limitations of our dataset and are committed to continuously expanding and refining our data sources.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212" y="4060269"/>
            <a:ext cx="3233737" cy="8168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02404" y="5183505"/>
            <a:ext cx="2552819" cy="3190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3"/>
              </a:lnSpc>
              <a:buNone/>
            </a:pPr>
            <a:r>
              <a:rPr lang="en-US" sz="24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Model Enhancements</a:t>
            </a:r>
            <a:endParaRPr lang="en-US" sz="2400" b="1" dirty="0"/>
          </a:p>
        </p:txBody>
      </p:sp>
      <p:sp>
        <p:nvSpPr>
          <p:cNvPr id="11" name="Text 6"/>
          <p:cNvSpPr/>
          <p:nvPr/>
        </p:nvSpPr>
        <p:spPr>
          <a:xfrm>
            <a:off x="5902404" y="5625108"/>
            <a:ext cx="2825353" cy="1837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12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are actively exploring advanced techniques, such as deep learning and ensemble methods, to further improve the model's predictive accuracy.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1950" y="4060269"/>
            <a:ext cx="3233737" cy="816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36142" y="5183505"/>
            <a:ext cx="2552819" cy="3190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3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Scalability Challenges</a:t>
            </a:r>
            <a:endParaRPr lang="en-US" sz="2800" b="1" dirty="0"/>
          </a:p>
        </p:txBody>
      </p:sp>
      <p:sp>
        <p:nvSpPr>
          <p:cNvPr id="14" name="Text 8"/>
          <p:cNvSpPr/>
          <p:nvPr/>
        </p:nvSpPr>
        <p:spPr>
          <a:xfrm>
            <a:off x="9136142" y="5625108"/>
            <a:ext cx="2825353" cy="1837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12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As the demand for our solution grows, we will address scalability challenges to ensure seamless performance and reliability for our users.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8229599"/>
            <a:ext cx="14630400" cy="45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615559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800" b="1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Conclusion</a:t>
            </a:r>
            <a:endParaRPr lang="en-US" sz="4800" b="1" dirty="0"/>
          </a:p>
        </p:txBody>
      </p:sp>
      <p:sp>
        <p:nvSpPr>
          <p:cNvPr id="5" name="Shape 3"/>
          <p:cNvSpPr/>
          <p:nvPr/>
        </p:nvSpPr>
        <p:spPr>
          <a:xfrm>
            <a:off x="2037993" y="2754273"/>
            <a:ext cx="10554414" cy="3859649"/>
          </a:xfrm>
          <a:prstGeom prst="roundRect">
            <a:avLst>
              <a:gd name="adj" fmla="val 25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5613" y="2761893"/>
            <a:ext cx="10539174" cy="1281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67783" y="2902744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Accurate Predictions</a:t>
            </a:r>
            <a:endParaRPr lang="en-US" sz="2800" b="1" dirty="0"/>
          </a:p>
        </p:txBody>
      </p:sp>
      <p:sp>
        <p:nvSpPr>
          <p:cNvPr id="8" name="Text 6"/>
          <p:cNvSpPr/>
          <p:nvPr/>
        </p:nvSpPr>
        <p:spPr>
          <a:xfrm>
            <a:off x="7541181" y="2902744"/>
            <a:ext cx="482143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Our house price prediction model provides reliable estimates, empowering you to make informed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45613" y="4043363"/>
            <a:ext cx="10539174" cy="1281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67783" y="4184213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Improvement</a:t>
            </a:r>
            <a:endParaRPr lang="en-US" sz="2800" b="1" dirty="0"/>
          </a:p>
        </p:txBody>
      </p:sp>
      <p:sp>
        <p:nvSpPr>
          <p:cNvPr id="11" name="Text 9"/>
          <p:cNvSpPr/>
          <p:nvPr/>
        </p:nvSpPr>
        <p:spPr>
          <a:xfrm>
            <a:off x="7541181" y="4184213"/>
            <a:ext cx="482143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We are committed to ongoing enhancements and refinements, ensuring our solution stays at the forefront of industry standards.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45613" y="5324832"/>
            <a:ext cx="10539174" cy="1281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267783" y="5465683"/>
            <a:ext cx="482143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8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Seamless Integration</a:t>
            </a:r>
            <a:endParaRPr lang="en-US" sz="2800" b="1" dirty="0"/>
          </a:p>
        </p:txBody>
      </p:sp>
      <p:sp>
        <p:nvSpPr>
          <p:cNvPr id="14" name="Text 12"/>
          <p:cNvSpPr/>
          <p:nvPr/>
        </p:nvSpPr>
        <p:spPr>
          <a:xfrm>
            <a:off x="7541181" y="5465683"/>
            <a:ext cx="482143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Times New Roman" panose="02020603050405020304" pitchFamily="18" charset="0"/>
                <a:ea typeface="Martel Sans" pitchFamily="34" charset="-122"/>
                <a:cs typeface="Times New Roman" panose="02020603050405020304" pitchFamily="18" charset="0"/>
              </a:rPr>
              <a:t>Our user-friendly API and cloud-based deployment enable seamless integration with your existing systems and workflows.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</TotalTime>
  <Words>516</Words>
  <Application>Microsoft Office PowerPoint</Application>
  <PresentationFormat>Custom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 Rounded MT Bold</vt:lpstr>
      <vt:lpstr>Calibri</vt:lpstr>
      <vt:lpstr>Kanit</vt:lpstr>
      <vt:lpstr>Martel Sans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AREEBA TARIQ</cp:lastModifiedBy>
  <cp:revision>4</cp:revision>
  <dcterms:created xsi:type="dcterms:W3CDTF">2024-06-10T10:21:32Z</dcterms:created>
  <dcterms:modified xsi:type="dcterms:W3CDTF">2024-06-10T10:49:58Z</dcterms:modified>
</cp:coreProperties>
</file>